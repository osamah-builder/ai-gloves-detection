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097280"/>
            <a:ext cx="731520" cy="7315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KOKIDO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i="1" dirty="0">
                <a:solidFill>
                  <a:srgbClr val="F9B34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Smart Monitoring System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silent cameras to intelligent eyes that watch, alert, and analyze — 24/7.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5852160"/>
            <a:ext cx="1152144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Pilot Proposal</a:t>
            </a:r>
            <a:pPr algn="l" indent="0" marL="0">
              <a:buNone/>
            </a:pPr>
            <a:r>
              <a:rPr lang="en-US" sz="1600" dirty="0">
                <a:solidFill>
                  <a:srgbClr val="6C757D"/>
                </a:solidFill>
              </a:rPr>
              <a:t>  •  </a:t>
            </a:r>
            <a:pPr algn="l"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Computer Vision AI</a:t>
            </a:r>
            <a:pPr algn="l" indent="0" marL="0">
              <a:buNone/>
            </a:pPr>
            <a:r>
              <a:rPr lang="en-US" sz="1600" dirty="0">
                <a:solidFill>
                  <a:srgbClr val="6C757D"/>
                </a:solidFill>
              </a:rPr>
              <a:t>  •  </a:t>
            </a:r>
            <a:pPr algn="l"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İstanbul,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Real Cost of What You Can't See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shift, hundreds of micro-decisions shape your customers' experience. Most go unmonitored.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137160" cy="19202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4028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82880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Hygiene Violations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26060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without gloves go undetected. One health inspection failure can shut a branch.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828800"/>
            <a:ext cx="137160" cy="19202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0" y="2240280"/>
            <a:ext cx="822960" cy="822960"/>
          </a:xfrm>
          <a:prstGeom prst="ellipse">
            <a:avLst/>
          </a:prstGeom>
          <a:solidFill>
            <a:srgbClr val="F9B342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68096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Dirty Tables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680960" y="26060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leaves, table sits 12 minutes uncleaned. Next customer walks out.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023360"/>
            <a:ext cx="137160" cy="19202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4434840"/>
            <a:ext cx="822960" cy="8229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434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1828800" y="4297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Service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828800" y="48006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Bottlenecks at peak hours cost throughput. You can't fix what you can't measure.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402336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4023360"/>
            <a:ext cx="137160" cy="19202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4" name="Shape 22"/>
          <p:cNvSpPr/>
          <p:nvPr/>
        </p:nvSpPr>
        <p:spPr>
          <a:xfrm>
            <a:off x="6675120" y="4434840"/>
            <a:ext cx="822960" cy="82296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4434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7680960" y="4297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Shrinkage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680960" y="48006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3-8% of meals leave the kitchen without a matching invoice. Pure loss.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monitoring is human, biased, and gaps-ridden. We replace it with AI.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This Costs You — Right Now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C757D"/>
                </a:solidFill>
              </a:rPr>
              <a:t>Conservative estimates based on fast-food industry averages.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2697480" cy="3200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029200"/>
            <a:ext cx="2697480" cy="1828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286000"/>
            <a:ext cx="2697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shrinkage in fast-food (Industry: 3-8%)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2011680"/>
            <a:ext cx="2697480" cy="3200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Shape 7"/>
          <p:cNvSpPr/>
          <p:nvPr/>
        </p:nvSpPr>
        <p:spPr>
          <a:xfrm>
            <a:off x="3337560" y="5029200"/>
            <a:ext cx="2697480" cy="1828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2286000"/>
            <a:ext cx="2697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$18K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3520440" y="3931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annually per branch (at 5% of $30K monthly)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2697480" cy="3200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5029200"/>
            <a:ext cx="2697480" cy="1828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2286000"/>
            <a:ext cx="2697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$90K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6400800" y="3931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 loss across 5 branches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98280" y="2011680"/>
            <a:ext cx="2697480" cy="3200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7" name="Shape 15"/>
          <p:cNvSpPr/>
          <p:nvPr/>
        </p:nvSpPr>
        <p:spPr>
          <a:xfrm>
            <a:off x="9098280" y="5029200"/>
            <a:ext cx="2697480" cy="1828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9098280" y="2286000"/>
            <a:ext cx="2697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0%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9281160" y="3931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recovered without AI monitoring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760720"/>
            <a:ext cx="11247120" cy="822960"/>
          </a:xfrm>
          <a:prstGeom prst="rect">
            <a:avLst/>
          </a:prstGeom>
          <a:solidFill>
            <a:srgbClr val="F9B34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57607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deploying AI: Recover 75% of that loss = $67,500/year for 5 branches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Solution: AI Eyes That Never Blink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C757D"/>
                </a:solidFill>
              </a:rPr>
              <a:t>Your existing cameras + our AI = a 24/7 intelligent monitoring system.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463040" y="1965960"/>
            <a:ext cx="2606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PPE Compliance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 &amp; hairnets detection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914400" cy="914400"/>
          </a:xfrm>
          <a:prstGeom prst="ellipse">
            <a:avLst/>
          </a:prstGeom>
          <a:solidFill>
            <a:srgbClr val="F9B342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5303520" y="1965960"/>
            <a:ext cx="2606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Kitchen Hygiene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4068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cleaning schedules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920240"/>
            <a:ext cx="914400" cy="91440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9144000" y="1965960"/>
            <a:ext cx="2606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Quality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8116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fryer monitoring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914400" cy="9144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206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1463040" y="4251960"/>
            <a:ext cx="2606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00200" y="4297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Dining Hall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00200" y="4663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turnover metrics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7680" y="4206240"/>
            <a:ext cx="914400" cy="9144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4297680" y="4206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200" dirty="0"/>
          </a:p>
        </p:txBody>
      </p:sp>
      <p:sp>
        <p:nvSpPr>
          <p:cNvPr id="26" name="Shape 24"/>
          <p:cNvSpPr/>
          <p:nvPr/>
        </p:nvSpPr>
        <p:spPr>
          <a:xfrm>
            <a:off x="5303520" y="4251960"/>
            <a:ext cx="2606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0680" y="4297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Cashier Service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40680" y="4663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&amp; professionalism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38160" y="4206240"/>
            <a:ext cx="914400" cy="91440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30" name="Text 28"/>
          <p:cNvSpPr/>
          <p:nvPr/>
        </p:nvSpPr>
        <p:spPr>
          <a:xfrm>
            <a:off x="8138160" y="4206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200" dirty="0"/>
          </a:p>
        </p:txBody>
      </p:sp>
      <p:sp>
        <p:nvSpPr>
          <p:cNvPr id="31" name="Shape 29"/>
          <p:cNvSpPr/>
          <p:nvPr/>
        </p:nvSpPr>
        <p:spPr>
          <a:xfrm>
            <a:off x="9144000" y="4251960"/>
            <a:ext cx="2606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81160" y="4297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Matching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281160" y="4663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POS-Camera reconciliation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Today's pilot focuses on Phase 1 — the foundation for the rest.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spc="1200" kern="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1: Gloves Compliance Detection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9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Switch to web app now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0" y="5212080"/>
            <a:ext cx="210312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C757D"/>
                </a:solidFill>
              </a:rPr>
              <a:t>Speaker note: Open localhost:8501, run video upload demo, show results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 — Behind the Scenes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2011680"/>
            <a:ext cx="2697480" cy="3200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17320" y="2286000"/>
            <a:ext cx="777240" cy="77724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2286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cameras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to local Edge AI device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rot="5400000">
            <a:off x="3200400" y="3383280"/>
            <a:ext cx="137160" cy="457200"/>
          </a:xfrm>
          <a:prstGeom prst="rtTriangle">
            <a:avLst/>
          </a:prstGeom>
          <a:solidFill>
            <a:srgbClr val="6C757D"/>
          </a:solidFill>
          <a:ln/>
        </p:spPr>
      </p:sp>
      <p:sp>
        <p:nvSpPr>
          <p:cNvPr id="9" name="Shape 7"/>
          <p:cNvSpPr/>
          <p:nvPr/>
        </p:nvSpPr>
        <p:spPr>
          <a:xfrm>
            <a:off x="3337560" y="2011680"/>
            <a:ext cx="2697480" cy="3200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9616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228600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2286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37560" y="32918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20440" y="393192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detects compliance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frame in &lt;100ms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rot="5400000">
            <a:off x="6080760" y="3383280"/>
            <a:ext cx="137160" cy="457200"/>
          </a:xfrm>
          <a:prstGeom prst="rtTriangle">
            <a:avLst/>
          </a:prstGeom>
          <a:solidFill>
            <a:srgbClr val="6C757D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2011680"/>
            <a:ext cx="2697480" cy="3200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9B3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78040" y="2286000"/>
            <a:ext cx="777240" cy="777240"/>
          </a:xfrm>
          <a:prstGeom prst="ellipse">
            <a:avLst/>
          </a:prstGeom>
          <a:solidFill>
            <a:srgbClr val="F9B342"/>
          </a:solidFill>
          <a:ln/>
        </p:spPr>
      </p:sp>
      <p:sp>
        <p:nvSpPr>
          <p:cNvPr id="17" name="Text 15"/>
          <p:cNvSpPr/>
          <p:nvPr/>
        </p:nvSpPr>
        <p:spPr>
          <a:xfrm>
            <a:off x="7178040" y="2286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7920" y="32918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0800" y="393192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logged to dashboard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timestamps &amp; evidence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 rot="5400000">
            <a:off x="8961120" y="3383280"/>
            <a:ext cx="137160" cy="457200"/>
          </a:xfrm>
          <a:prstGeom prst="rtTriangle">
            <a:avLst/>
          </a:prstGeom>
          <a:solidFill>
            <a:srgbClr val="6C757D"/>
          </a:solidFill>
          <a:ln/>
        </p:spPr>
      </p:sp>
      <p:sp>
        <p:nvSpPr>
          <p:cNvPr id="21" name="Shape 19"/>
          <p:cNvSpPr/>
          <p:nvPr/>
        </p:nvSpPr>
        <p:spPr>
          <a:xfrm>
            <a:off x="9098280" y="2011680"/>
            <a:ext cx="2697480" cy="3200400"/>
          </a:xfrm>
          <a:prstGeom prst="rect">
            <a:avLst/>
          </a:prstGeom>
          <a:solidFill>
            <a:srgbClr val="FFFFFF"/>
          </a:solidFill>
          <a:ln w="38100">
            <a:solidFill>
              <a:srgbClr val="28A7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58400" y="2286000"/>
            <a:ext cx="777240" cy="77724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0" y="2286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098280" y="32918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281160" y="393192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gets push notification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mobile app within seconds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5486400"/>
            <a:ext cx="11247120" cy="10972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Hybrid Edge + Cloud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device per branch handles real-time inference (no internet needed). Central cloud only for dashboard, alerts, and reports. Result: low cost, low latency, data sovereignty.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Investment Pays Itself Back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C757D"/>
                </a:solidFill>
              </a:rPr>
              <a:t>Stage 6 alone (Sales Matching) recovers more than the full system cost annually.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486400" cy="54864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(One-Time)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5486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14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(5 branches × $4,100)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0" y="2514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(12 months team)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0" y="3063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$129,000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AI training, tools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3611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$11,500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160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15%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4160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$24,150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663440"/>
            <a:ext cx="5303520" cy="4572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709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31920" y="4709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$185,150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09360" y="1828800"/>
            <a:ext cx="5486400" cy="5486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828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Returns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309360" y="2377440"/>
            <a:ext cx="5486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514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recovery (75% of 5%)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84080" y="2514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$67,500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0" y="3063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improvement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84080" y="3063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$18,000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0" y="3611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Hygiene fines avoided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784080" y="3611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$10,000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0" y="4160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food waste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84080" y="4160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$6,000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0" y="4663440"/>
            <a:ext cx="5303520" cy="4572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4709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784080" y="4709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$101,500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7200" y="5760720"/>
            <a:ext cx="11247120" cy="822960"/>
          </a:xfrm>
          <a:prstGeom prst="rect">
            <a:avLst/>
          </a:prstGeom>
          <a:solidFill>
            <a:srgbClr val="F9B342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57607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Payback: 1.8 years for 5 branches  •  Drops to 1.4 years at 15 branches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Now? Why Us? Why You?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NOW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3657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51760"/>
            <a:ext cx="3200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►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tech is mature and affordable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►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hardware is 10× cheaper than 2 years ago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►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competitors are starting — first-mover advantage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►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KVKK compliance is achievable today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F9B342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US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297680" y="2468880"/>
            <a:ext cx="3657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9B3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651760"/>
            <a:ext cx="3200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►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to your kitchens — not generic SaaS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►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60-80% cheaper than international solutions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►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code, the data, and the IP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►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support — no language barriers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YOU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138160" y="2468880"/>
            <a:ext cx="3657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651760"/>
            <a:ext cx="3200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►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chain — economies of scale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►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brand — credibility for marketing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►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Tech-forward leadership team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►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pain points the system solves directly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Ask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9B342"/>
                </a:solidFill>
              </a:rPr>
              <a:t>A small, low-risk first step.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0" y="2011680"/>
            <a:ext cx="9418320" cy="384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2011680"/>
            <a:ext cx="9418320" cy="1371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2860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PROGRAM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83464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Branch  •  2 Months  •  Phase 1 Only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554480" y="38404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$5,500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554480" y="4572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Pilot Cost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49377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+ setup + 1-month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included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38404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63440" y="4572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Guarantee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49377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you pay nothing 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the contract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0" y="38404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days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772400" y="4572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Day Zero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0" y="49377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demo on your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branch in 30 days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9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works — we expand. If not — you walk away.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C757D"/>
                </a:solidFill>
              </a:rPr>
              <a:t>If we agree today, here's what happens next.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64592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2468880"/>
            <a:ext cx="0" cy="73152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Visit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0" y="2148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survey, infrastructure check, camera audit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164592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42032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280160" y="3182112"/>
            <a:ext cx="0" cy="73152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25420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&amp; Setup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86000" y="286207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pilot agreement, order hardware, plan logistics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55264"/>
            <a:ext cx="164592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55264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3-4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0160" y="3895344"/>
            <a:ext cx="0" cy="73152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325526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286000" y="357530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cameras, edge device, connect to dashboard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68496"/>
            <a:ext cx="164592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968496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5-6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280160" y="4608576"/>
            <a:ext cx="0" cy="73152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39684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Training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286000" y="428853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kitchen-specific data, fine-tune model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681728"/>
            <a:ext cx="164592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68172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7-8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280160" y="5321808"/>
            <a:ext cx="0" cy="73152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0" y="4681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Monitoring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286000" y="50017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runs, daily reports, weekly check-ins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394960"/>
            <a:ext cx="164592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53949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Month 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286000" y="5394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286000" y="5715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results — expand or end (your call)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build the future</a:t>
            </a:r>
            <a:endParaRPr lang="en-US" sz="5600" dirty="0"/>
          </a:p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 Kokido — together.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914400" y="4114800"/>
            <a:ext cx="2743200" cy="0"/>
          </a:xfrm>
          <a:prstGeom prst="line">
            <a:avLst/>
          </a:prstGeom>
          <a:noFill/>
          <a:ln w="508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389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F9B34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Questions?  Concerns?  Let's talk.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54864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Contact: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CCCCCC"/>
                </a:solidFill>
              </a:rPr>
              <a:t>  [Your Name]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Email: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CCCCCC"/>
                </a:solidFill>
              </a:rPr>
              <a:t>  [your.email@domain.com]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Phone: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CCCCCC"/>
                </a:solidFill>
              </a:rPr>
              <a:t>  [+90 XXX XXX XXXX]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Kokido Smart Monitoring System — Pilot Pitch</dc:title>
  <dc:subject>PptxGenJS Presentation</dc:subject>
  <dc:creator>Kokido AI Project</dc:creator>
  <cp:lastModifiedBy>Kokido AI Project</cp:lastModifiedBy>
  <cp:revision>1</cp:revision>
  <dcterms:created xsi:type="dcterms:W3CDTF">2026-04-27T11:58:21Z</dcterms:created>
  <dcterms:modified xsi:type="dcterms:W3CDTF">2026-04-27T11:58:21Z</dcterms:modified>
</cp:coreProperties>
</file>